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5" d="100"/>
          <a:sy n="95" d="100"/>
        </p:scale>
        <p:origin x="1018" y="72"/>
      </p:cViewPr>
      <p:guideLst/>
    </p:cSldViewPr>
  </p:slideViewPr>
  <p:notesTextViewPr>
    <p:cViewPr>
      <p:scale>
        <a:sx n="1" d="1"/>
        <a:sy n="1" d="1"/>
      </p:scale>
      <p:origin x="0" y="0"/>
    </p:cViewPr>
  </p:notesTextViewPr>
  <p:gridSpacing cx="38100" cy="381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728495-A322-4DCE-B456-BC8AF28B651C}" type="datetimeFigureOut">
              <a:rPr lang="en-US" smtClean="0"/>
              <a:t>15/02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DFDE2-C36F-4F76-A40D-A690541279EF}" type="slidenum">
              <a:rPr lang="en-US" smtClean="0"/>
              <a:t>‹#›</a:t>
            </a:fld>
            <a:endParaRPr lang="en-US"/>
          </a:p>
        </p:txBody>
      </p:sp>
    </p:spTree>
    <p:extLst>
      <p:ext uri="{BB962C8B-B14F-4D97-AF65-F5344CB8AC3E}">
        <p14:creationId xmlns:p14="http://schemas.microsoft.com/office/powerpoint/2010/main" val="3621564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AA1B3-DD33-49C6-8401-DAF90A344BDD}" type="datetime1">
              <a:rPr lang="en-US" smtClean="0"/>
              <a:t>15/02</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971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7E1FCF-0DFA-4012-A19C-C00E7B3A0CE4}" type="datetime1">
              <a:rPr lang="en-US" smtClean="0"/>
              <a:t>15/02</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96592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D8DC29-1059-4C06-8BA1-7050957DB671}" type="datetime1">
              <a:rPr lang="en-US" smtClean="0"/>
              <a:t>15/02</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865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5C497B-6C3F-4D9A-8EC9-6E3BC8C1A8E0}" type="datetime1">
              <a:rPr lang="en-US" smtClean="0"/>
              <a:t>15/02</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08578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FBBE40-2349-4B09-8FF7-A9E68DCED3AD}" type="datetime1">
              <a:rPr lang="en-US" smtClean="0"/>
              <a:t>15/02</a:t>
            </a:fld>
            <a:endParaRPr lang="en-US"/>
          </a:p>
        </p:txBody>
      </p:sp>
      <p:sp>
        <p:nvSpPr>
          <p:cNvPr id="8" name="Footer Placeholder 7"/>
          <p:cNvSpPr>
            <a:spLocks noGrp="1"/>
          </p:cNvSpPr>
          <p:nvPr>
            <p:ph type="ftr" sz="quarter" idx="11"/>
          </p:nvPr>
        </p:nvSpPr>
        <p:spPr/>
        <p:txBody>
          <a:body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80187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F29E85-4074-4067-8F1A-8BD8B313671E}" type="datetime1">
              <a:rPr lang="en-US" smtClean="0"/>
              <a:t>15/02</a:t>
            </a:fld>
            <a:endParaRPr lang="en-US"/>
          </a:p>
        </p:txBody>
      </p:sp>
      <p:sp>
        <p:nvSpPr>
          <p:cNvPr id="4" name="Footer Placeholder 3"/>
          <p:cNvSpPr>
            <a:spLocks noGrp="1"/>
          </p:cNvSpPr>
          <p:nvPr>
            <p:ph type="ftr" sz="quarter" idx="11"/>
          </p:nvPr>
        </p:nvSpPr>
        <p:spPr/>
        <p:txBody>
          <a:bodyPr/>
          <a:lstStyle/>
          <a:p>
            <a:r>
              <a:rPr lang="en-US"/>
              <a:t>ThS. Lê Nhật Tùng</a:t>
            </a:r>
          </a:p>
        </p:txBody>
      </p:sp>
      <p:sp>
        <p:nvSpPr>
          <p:cNvPr id="5" name="Slide Number Placeholder 4"/>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37570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75A4DB8-8D6C-458E-86FB-E9A95200CDA7}" type="datetime1">
              <a:rPr lang="en-US" smtClean="0"/>
              <a:t>15/02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04748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9B2A48E-1D10-4082-AAD0-FD067602EB0D}" type="datetime1">
              <a:rPr lang="en-US" smtClean="0"/>
              <a:t>15/02</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ThS. Lê Nhật Tùng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37674A-7ED7-40B5-9AA7-3008B632771F}" type="slidenum">
              <a:rPr lang="en-US" smtClean="0"/>
              <a:t>‹#›</a:t>
            </a:fld>
            <a:endParaRPr lang="en-US"/>
          </a:p>
        </p:txBody>
      </p:sp>
    </p:spTree>
    <p:extLst>
      <p:ext uri="{BB962C8B-B14F-4D97-AF65-F5344CB8AC3E}">
        <p14:creationId xmlns:p14="http://schemas.microsoft.com/office/powerpoint/2010/main" val="3738523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09EDD3-1207-4B6D-A734-CD7F2226CB80}" type="datetime1">
              <a:rPr lang="en-US" smtClean="0"/>
              <a:t>15/02</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801845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1FB03A-180C-4D07-AB8B-A3DA7BF05E59}" type="datetime1">
              <a:rPr lang="en-US" smtClean="0"/>
              <a:t>15/02</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4240375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A25D2-BF01-48AD-872B-AC7F27AF8216}" type="datetime1">
              <a:rPr lang="en-US" smtClean="0"/>
              <a:t>15/02</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88620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45B1A31-F891-428D-BB55-7F48928FA825}" type="datetime1">
              <a:rPr lang="en-US" smtClean="0"/>
              <a:t>15/02</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ThS. Lê Nhật Tùng</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7637674A-7ED7-40B5-9AA7-3008B632771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4289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TITVvn/" TargetMode="External"/><Relationship Id="rId2" Type="http://schemas.openxmlformats.org/officeDocument/2006/relationships/hyperlink" Target="mailto:lenhattung@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55768-D4F9-F06E-0B75-8C062368AF4B}"/>
              </a:ext>
            </a:extLst>
          </p:cNvPr>
          <p:cNvSpPr>
            <a:spLocks noGrp="1"/>
          </p:cNvSpPr>
          <p:nvPr>
            <p:ph type="ctrTitle"/>
          </p:nvPr>
        </p:nvSpPr>
        <p:spPr/>
        <p:txBody>
          <a:bodyPr/>
          <a:lstStyle/>
          <a:p>
            <a:r>
              <a:rPr lang="en-US"/>
              <a:t>HỌC SÂU</a:t>
            </a:r>
          </a:p>
        </p:txBody>
      </p:sp>
      <p:sp>
        <p:nvSpPr>
          <p:cNvPr id="3" name="Subtitle 2">
            <a:extLst>
              <a:ext uri="{FF2B5EF4-FFF2-40B4-BE49-F238E27FC236}">
                <a16:creationId xmlns:a16="http://schemas.microsoft.com/office/drawing/2014/main" id="{C53E7493-6663-B110-0BA4-DCD80C786155}"/>
              </a:ext>
            </a:extLst>
          </p:cNvPr>
          <p:cNvSpPr>
            <a:spLocks noGrp="1"/>
          </p:cNvSpPr>
          <p:nvPr>
            <p:ph type="subTitle" idx="1"/>
          </p:nvPr>
        </p:nvSpPr>
        <p:spPr/>
        <p:txBody>
          <a:bodyPr/>
          <a:lstStyle/>
          <a:p>
            <a:r>
              <a:rPr lang="en-US"/>
              <a:t>DEEP LEARNING</a:t>
            </a:r>
          </a:p>
        </p:txBody>
      </p:sp>
    </p:spTree>
    <p:extLst>
      <p:ext uri="{BB962C8B-B14F-4D97-AF65-F5344CB8AC3E}">
        <p14:creationId xmlns:p14="http://schemas.microsoft.com/office/powerpoint/2010/main" val="4180960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D8C3-A30C-D3A4-D46D-C5B2A619465D}"/>
              </a:ext>
            </a:extLst>
          </p:cNvPr>
          <p:cNvSpPr>
            <a:spLocks noGrp="1"/>
          </p:cNvSpPr>
          <p:nvPr>
            <p:ph type="title"/>
          </p:nvPr>
        </p:nvSpPr>
        <p:spPr/>
        <p:txBody>
          <a:bodyPr/>
          <a:lstStyle/>
          <a:p>
            <a:r>
              <a:rPr lang="en-US"/>
              <a:t>MÔ TẢ HỌC PHẦN</a:t>
            </a:r>
          </a:p>
        </p:txBody>
      </p:sp>
      <p:sp>
        <p:nvSpPr>
          <p:cNvPr id="3" name="Content Placeholder 2">
            <a:extLst>
              <a:ext uri="{FF2B5EF4-FFF2-40B4-BE49-F238E27FC236}">
                <a16:creationId xmlns:a16="http://schemas.microsoft.com/office/drawing/2014/main" id="{6A121AD2-0D5F-8BC0-4630-A41A49916C98}"/>
              </a:ext>
            </a:extLst>
          </p:cNvPr>
          <p:cNvSpPr>
            <a:spLocks noGrp="1"/>
          </p:cNvSpPr>
          <p:nvPr>
            <p:ph idx="1"/>
          </p:nvPr>
        </p:nvSpPr>
        <p:spPr/>
        <p:txBody>
          <a:bodyPr>
            <a:normAutofit/>
          </a:bodyPr>
          <a:lstStyle/>
          <a:p>
            <a:pPr algn="just"/>
            <a:r>
              <a:rPr lang="en-US"/>
              <a:t> </a:t>
            </a:r>
            <a:r>
              <a:rPr lang="vi-VN"/>
              <a:t>Học phần Học sâu - Deep learning là học phần trình bày về các kiến thức cơ bản của deep learning, bao gồm: </a:t>
            </a:r>
            <a:endParaRPr lang="en-US"/>
          </a:p>
          <a:p>
            <a:pPr lvl="1" algn="just"/>
            <a:r>
              <a:rPr lang="vi-VN"/>
              <a:t>lịch sử phát triển của deep learning, </a:t>
            </a:r>
            <a:endParaRPr lang="en-US"/>
          </a:p>
          <a:p>
            <a:pPr lvl="1" algn="just"/>
            <a:r>
              <a:rPr lang="vi-VN"/>
              <a:t>mô hình hồi quy tuyến tính và hồi quy logistic, </a:t>
            </a:r>
            <a:endParaRPr lang="en-US"/>
          </a:p>
          <a:p>
            <a:pPr lvl="1" algn="just"/>
            <a:r>
              <a:rPr lang="vi-VN"/>
              <a:t>mạng neuron (neural networks), </a:t>
            </a:r>
            <a:endParaRPr lang="en-US"/>
          </a:p>
          <a:p>
            <a:pPr lvl="1" algn="just"/>
            <a:r>
              <a:rPr lang="vi-VN"/>
              <a:t>mạng neuron tích chập (convolutional neural networks), </a:t>
            </a:r>
            <a:endParaRPr lang="en-US"/>
          </a:p>
          <a:p>
            <a:pPr lvl="1" algn="just"/>
            <a:r>
              <a:rPr lang="vi-VN"/>
              <a:t>và mạng neuron hồi quy (recurrent neural networks). </a:t>
            </a:r>
            <a:endParaRPr lang="en-US"/>
          </a:p>
          <a:p>
            <a:pPr algn="just"/>
            <a:r>
              <a:rPr lang="vi-VN"/>
              <a:t>Học phần cũng sẽ trình bày về phương pháp huấn luyện deep learning, và quy trình xây dựng một hệ thống deep learning.</a:t>
            </a:r>
            <a:endParaRPr lang="en-US"/>
          </a:p>
        </p:txBody>
      </p:sp>
      <p:sp>
        <p:nvSpPr>
          <p:cNvPr id="4" name="Footer Placeholder 3">
            <a:extLst>
              <a:ext uri="{FF2B5EF4-FFF2-40B4-BE49-F238E27FC236}">
                <a16:creationId xmlns:a16="http://schemas.microsoft.com/office/drawing/2014/main" id="{0DCBE7DA-C8BF-2EE3-B8AC-92DF4965C371}"/>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580186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E7341-4CEF-0331-499D-BABF250BF246}"/>
              </a:ext>
            </a:extLst>
          </p:cNvPr>
          <p:cNvSpPr>
            <a:spLocks noGrp="1"/>
          </p:cNvSpPr>
          <p:nvPr>
            <p:ph type="title"/>
          </p:nvPr>
        </p:nvSpPr>
        <p:spPr/>
        <p:txBody>
          <a:bodyPr/>
          <a:lstStyle/>
          <a:p>
            <a:r>
              <a:rPr lang="en-US"/>
              <a:t>NỘI DUNG HỌC PHẦN</a:t>
            </a:r>
          </a:p>
        </p:txBody>
      </p:sp>
      <p:sp>
        <p:nvSpPr>
          <p:cNvPr id="3" name="Content Placeholder 2">
            <a:extLst>
              <a:ext uri="{FF2B5EF4-FFF2-40B4-BE49-F238E27FC236}">
                <a16:creationId xmlns:a16="http://schemas.microsoft.com/office/drawing/2014/main" id="{36F86652-AB69-DFEA-5283-AA08A9B8CE73}"/>
              </a:ext>
            </a:extLst>
          </p:cNvPr>
          <p:cNvSpPr>
            <a:spLocks noGrp="1"/>
          </p:cNvSpPr>
          <p:nvPr>
            <p:ph idx="1"/>
          </p:nvPr>
        </p:nvSpPr>
        <p:spPr/>
        <p:txBody>
          <a:bodyPr/>
          <a:lstStyle/>
          <a:p>
            <a:pPr marL="0" indent="0" algn="just">
              <a:buNone/>
            </a:pPr>
            <a:r>
              <a:rPr lang="vi-VN" b="1"/>
              <a:t>Bài 1. TỔNG QUAN VỀ DEEP LEARNING </a:t>
            </a:r>
            <a:endParaRPr lang="en-US" b="1"/>
          </a:p>
          <a:p>
            <a:pPr marL="0" indent="0" algn="just">
              <a:buNone/>
            </a:pPr>
            <a:r>
              <a:rPr lang="vi-VN"/>
              <a:t>Bài này giới thiệu cho sinh viên về lịch sử phát triển của deep learning, các khái niệm cơ bản, các bài toán ứng dụng, quy trình xây dựng hệ thống deep learning, và một số công cụ sử dụng trong deep learning.</a:t>
            </a:r>
            <a:endParaRPr lang="en-US"/>
          </a:p>
        </p:txBody>
      </p:sp>
      <p:sp>
        <p:nvSpPr>
          <p:cNvPr id="4" name="Footer Placeholder 3">
            <a:extLst>
              <a:ext uri="{FF2B5EF4-FFF2-40B4-BE49-F238E27FC236}">
                <a16:creationId xmlns:a16="http://schemas.microsoft.com/office/drawing/2014/main" id="{E228BF6E-755D-AA9D-DBC7-2169C87229CD}"/>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867703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284E1-0B4E-7BCB-DD6B-0F88BA4BA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1BFA1-67C1-0EB6-4DAA-1DE1AA3543FB}"/>
              </a:ext>
            </a:extLst>
          </p:cNvPr>
          <p:cNvSpPr>
            <a:spLocks noGrp="1"/>
          </p:cNvSpPr>
          <p:nvPr>
            <p:ph type="title"/>
          </p:nvPr>
        </p:nvSpPr>
        <p:spPr/>
        <p:txBody>
          <a:bodyPr/>
          <a:lstStyle/>
          <a:p>
            <a:r>
              <a:rPr lang="en-US"/>
              <a:t>NỘI DUNG HỌC PHẦN</a:t>
            </a:r>
          </a:p>
        </p:txBody>
      </p:sp>
      <p:sp>
        <p:nvSpPr>
          <p:cNvPr id="3" name="Content Placeholder 2">
            <a:extLst>
              <a:ext uri="{FF2B5EF4-FFF2-40B4-BE49-F238E27FC236}">
                <a16:creationId xmlns:a16="http://schemas.microsoft.com/office/drawing/2014/main" id="{7042F15A-0312-31EB-E708-E656362B8972}"/>
              </a:ext>
            </a:extLst>
          </p:cNvPr>
          <p:cNvSpPr>
            <a:spLocks noGrp="1"/>
          </p:cNvSpPr>
          <p:nvPr>
            <p:ph idx="1"/>
          </p:nvPr>
        </p:nvSpPr>
        <p:spPr/>
        <p:txBody>
          <a:bodyPr/>
          <a:lstStyle/>
          <a:p>
            <a:pPr marL="0" indent="0" algn="just">
              <a:buNone/>
            </a:pPr>
            <a:r>
              <a:rPr lang="vi-VN" b="1"/>
              <a:t>Bài 2. HỒI QUY TUYẾN TÍNH VÀ HỒI QUY LOGISTIC</a:t>
            </a:r>
            <a:endParaRPr lang="en-US" b="1"/>
          </a:p>
          <a:p>
            <a:pPr marL="0" indent="0" algn="just">
              <a:buNone/>
            </a:pPr>
            <a:r>
              <a:rPr lang="vi-VN"/>
              <a:t>Bài này giúp sinh viên nắm được mô hình hồi quy tuyến tính, mô hình hồi quy logistic, và thuật toán gradient descent - thuật toán huấn luyện của hai mô hình.</a:t>
            </a:r>
            <a:endParaRPr lang="en-US"/>
          </a:p>
        </p:txBody>
      </p:sp>
      <p:sp>
        <p:nvSpPr>
          <p:cNvPr id="4" name="Footer Placeholder 3">
            <a:extLst>
              <a:ext uri="{FF2B5EF4-FFF2-40B4-BE49-F238E27FC236}">
                <a16:creationId xmlns:a16="http://schemas.microsoft.com/office/drawing/2014/main" id="{0AABE41F-9519-D349-9ACD-376E8F8732CF}"/>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883029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7E871-BE42-61BC-DF9C-9438CCFD8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40A0A-4276-8480-FCCA-E2508B7A48BD}"/>
              </a:ext>
            </a:extLst>
          </p:cNvPr>
          <p:cNvSpPr>
            <a:spLocks noGrp="1"/>
          </p:cNvSpPr>
          <p:nvPr>
            <p:ph type="title"/>
          </p:nvPr>
        </p:nvSpPr>
        <p:spPr/>
        <p:txBody>
          <a:bodyPr/>
          <a:lstStyle/>
          <a:p>
            <a:r>
              <a:rPr lang="en-US"/>
              <a:t>NỘI DUNG HỌC PHẦN</a:t>
            </a:r>
          </a:p>
        </p:txBody>
      </p:sp>
      <p:sp>
        <p:nvSpPr>
          <p:cNvPr id="3" name="Content Placeholder 2">
            <a:extLst>
              <a:ext uri="{FF2B5EF4-FFF2-40B4-BE49-F238E27FC236}">
                <a16:creationId xmlns:a16="http://schemas.microsoft.com/office/drawing/2014/main" id="{9F0538CC-7170-102C-5F59-D01E7F64B137}"/>
              </a:ext>
            </a:extLst>
          </p:cNvPr>
          <p:cNvSpPr>
            <a:spLocks noGrp="1"/>
          </p:cNvSpPr>
          <p:nvPr>
            <p:ph idx="1"/>
          </p:nvPr>
        </p:nvSpPr>
        <p:spPr/>
        <p:txBody>
          <a:bodyPr/>
          <a:lstStyle/>
          <a:p>
            <a:pPr marL="0" indent="0" algn="just">
              <a:buNone/>
            </a:pPr>
            <a:r>
              <a:rPr lang="vi-VN" b="1"/>
              <a:t>Bài 3. MẠNG NEURON (NEURAL NETWORKS)</a:t>
            </a:r>
            <a:endParaRPr lang="en-US" b="1"/>
          </a:p>
          <a:p>
            <a:pPr marL="0" indent="0" algn="just">
              <a:buNone/>
            </a:pPr>
            <a:r>
              <a:rPr lang="vi-VN"/>
              <a:t>Bài này trình bày về các thành phần cấu thành của mạng neuron, kiến trúc của mạng neuron, thuật toán lan truyền ngược - thuật toán huấn luyện của mạng neuron. Bài này cũng sẽ trình bày ứng dụng của mạng neuron trong bài toán phân lớp và bài toán hồi quy.</a:t>
            </a:r>
            <a:endParaRPr lang="en-US"/>
          </a:p>
        </p:txBody>
      </p:sp>
      <p:sp>
        <p:nvSpPr>
          <p:cNvPr id="4" name="Footer Placeholder 3">
            <a:extLst>
              <a:ext uri="{FF2B5EF4-FFF2-40B4-BE49-F238E27FC236}">
                <a16:creationId xmlns:a16="http://schemas.microsoft.com/office/drawing/2014/main" id="{CE3D0FBD-D8D8-2FA8-1E75-D9C8FABFB8A3}"/>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438949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99664-D9BA-ABAE-B896-773676A72076}"/>
              </a:ext>
            </a:extLst>
          </p:cNvPr>
          <p:cNvSpPr>
            <a:spLocks noGrp="1"/>
          </p:cNvSpPr>
          <p:nvPr>
            <p:ph type="title"/>
          </p:nvPr>
        </p:nvSpPr>
        <p:spPr/>
        <p:txBody>
          <a:bodyPr/>
          <a:lstStyle/>
          <a:p>
            <a:r>
              <a:rPr lang="en-US"/>
              <a:t>NỘI DUNG HỌC PHẦN</a:t>
            </a:r>
          </a:p>
        </p:txBody>
      </p:sp>
      <p:sp>
        <p:nvSpPr>
          <p:cNvPr id="3" name="Content Placeholder 2">
            <a:extLst>
              <a:ext uri="{FF2B5EF4-FFF2-40B4-BE49-F238E27FC236}">
                <a16:creationId xmlns:a16="http://schemas.microsoft.com/office/drawing/2014/main" id="{32CC9A0E-1AC8-B0A7-E3B4-D2A67C66D345}"/>
              </a:ext>
            </a:extLst>
          </p:cNvPr>
          <p:cNvSpPr>
            <a:spLocks noGrp="1"/>
          </p:cNvSpPr>
          <p:nvPr>
            <p:ph idx="1"/>
          </p:nvPr>
        </p:nvSpPr>
        <p:spPr/>
        <p:txBody>
          <a:bodyPr/>
          <a:lstStyle/>
          <a:p>
            <a:pPr marL="0" indent="0" algn="just">
              <a:buNone/>
            </a:pPr>
            <a:r>
              <a:rPr lang="vi-VN" b="1"/>
              <a:t>Bài 4. MẠNG NEURON TÍCH CHẬP (CONVOLUTIONAL NEURAL NETWORKS - CNN)</a:t>
            </a:r>
            <a:endParaRPr lang="en-US" b="1"/>
          </a:p>
          <a:p>
            <a:pPr marL="0" indent="0" algn="just">
              <a:buNone/>
            </a:pPr>
            <a:r>
              <a:rPr lang="vi-VN"/>
              <a:t>Bài này trình bày về các thành phần cấu thành của mạng neuron tích chập, một số kiến trúc mạng neuron tích chập phổ biến, phương pháp huấn luyện mạng neuron tích chập, và ứng dụng mạng neuron tích chập vào bài toán phân lớp ảnh (image classification) và phát hiện đối tượng (object detection).</a:t>
            </a:r>
            <a:endParaRPr lang="en-US"/>
          </a:p>
        </p:txBody>
      </p:sp>
      <p:sp>
        <p:nvSpPr>
          <p:cNvPr id="4" name="Footer Placeholder 3">
            <a:extLst>
              <a:ext uri="{FF2B5EF4-FFF2-40B4-BE49-F238E27FC236}">
                <a16:creationId xmlns:a16="http://schemas.microsoft.com/office/drawing/2014/main" id="{5A1C4E26-35D5-77A7-7C27-435EED73C78C}"/>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252887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EDC61-EAA3-1A47-BA52-8E171810A1D1}"/>
              </a:ext>
            </a:extLst>
          </p:cNvPr>
          <p:cNvSpPr>
            <a:spLocks noGrp="1"/>
          </p:cNvSpPr>
          <p:nvPr>
            <p:ph type="title"/>
          </p:nvPr>
        </p:nvSpPr>
        <p:spPr/>
        <p:txBody>
          <a:bodyPr/>
          <a:lstStyle/>
          <a:p>
            <a:r>
              <a:rPr lang="en-US"/>
              <a:t>NỘI DUNG HỌC PHẦN</a:t>
            </a:r>
          </a:p>
        </p:txBody>
      </p:sp>
      <p:sp>
        <p:nvSpPr>
          <p:cNvPr id="3" name="Content Placeholder 2">
            <a:extLst>
              <a:ext uri="{FF2B5EF4-FFF2-40B4-BE49-F238E27FC236}">
                <a16:creationId xmlns:a16="http://schemas.microsoft.com/office/drawing/2014/main" id="{1AEAAA23-3707-A940-463E-2720DDE02176}"/>
              </a:ext>
            </a:extLst>
          </p:cNvPr>
          <p:cNvSpPr>
            <a:spLocks noGrp="1"/>
          </p:cNvSpPr>
          <p:nvPr>
            <p:ph idx="1"/>
          </p:nvPr>
        </p:nvSpPr>
        <p:spPr/>
        <p:txBody>
          <a:bodyPr>
            <a:normAutofit/>
          </a:bodyPr>
          <a:lstStyle/>
          <a:p>
            <a:pPr marL="0" indent="0" algn="just">
              <a:buNone/>
            </a:pPr>
            <a:r>
              <a:rPr lang="en-US" sz="2400" b="1"/>
              <a:t>Bài 5. MẠNG NEURON HỒI QUY (RECURRENT NEURAL NETWORKS - RNN)</a:t>
            </a:r>
          </a:p>
          <a:p>
            <a:pPr marL="0" indent="0" algn="just">
              <a:buNone/>
            </a:pPr>
            <a:r>
              <a:rPr lang="en-US"/>
              <a:t>Bài này giới thiệu về dữ liệu tuần tự (sequence data), mô hình tuần tự (sequence models), kiến trúc tổng quan và cách phân loại mạng neuron hồi quy. Bài này cũng trình bày </a:t>
            </a:r>
            <a:r>
              <a:rPr lang="vi-VN"/>
              <a:t>bày về phương pháp huấn luyện mạng neuron hồi quy và ứng dụng mạng neuron hồi quy vào bài toán mô tả hình ảnh (image captioning), mô hình Long Short Term Memory (LSTM) và ứng dụng LSTM vào bài toán phân loại quan điểm người dùng (sentiment analysis</a:t>
            </a:r>
            <a:endParaRPr lang="en-US"/>
          </a:p>
        </p:txBody>
      </p:sp>
      <p:sp>
        <p:nvSpPr>
          <p:cNvPr id="4" name="Footer Placeholder 3">
            <a:extLst>
              <a:ext uri="{FF2B5EF4-FFF2-40B4-BE49-F238E27FC236}">
                <a16:creationId xmlns:a16="http://schemas.microsoft.com/office/drawing/2014/main" id="{2C4F966C-9728-FFE9-5F47-B025790D0BCF}"/>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543942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ECEC6-0001-677F-F8A2-81C3D77D5807}"/>
              </a:ext>
            </a:extLst>
          </p:cNvPr>
          <p:cNvSpPr>
            <a:spLocks noGrp="1"/>
          </p:cNvSpPr>
          <p:nvPr>
            <p:ph type="title"/>
          </p:nvPr>
        </p:nvSpPr>
        <p:spPr/>
        <p:txBody>
          <a:bodyPr/>
          <a:lstStyle/>
          <a:p>
            <a:r>
              <a:rPr lang="en-US"/>
              <a:t>KIẾN THỨC TIỀN ĐỀ</a:t>
            </a:r>
          </a:p>
        </p:txBody>
      </p:sp>
      <p:sp>
        <p:nvSpPr>
          <p:cNvPr id="3" name="Content Placeholder 2">
            <a:extLst>
              <a:ext uri="{FF2B5EF4-FFF2-40B4-BE49-F238E27FC236}">
                <a16:creationId xmlns:a16="http://schemas.microsoft.com/office/drawing/2014/main" id="{191CAF12-B2B2-BE9F-D632-B2B16A05124F}"/>
              </a:ext>
            </a:extLst>
          </p:cNvPr>
          <p:cNvSpPr>
            <a:spLocks noGrp="1"/>
          </p:cNvSpPr>
          <p:nvPr>
            <p:ph idx="1"/>
          </p:nvPr>
        </p:nvSpPr>
        <p:spPr/>
        <p:txBody>
          <a:bodyPr/>
          <a:lstStyle/>
          <a:p>
            <a:r>
              <a:rPr lang="en-US"/>
              <a:t>Học phần Học sâu - Deep learning đòi hỏi sinh viên có nền tảng về đại số tuyến tính, lập trình Python, cấu trúc dữ liệu và giải thuật, trí tuệ nhân tạo.</a:t>
            </a:r>
          </a:p>
        </p:txBody>
      </p:sp>
      <p:sp>
        <p:nvSpPr>
          <p:cNvPr id="4" name="Footer Placeholder 3">
            <a:extLst>
              <a:ext uri="{FF2B5EF4-FFF2-40B4-BE49-F238E27FC236}">
                <a16:creationId xmlns:a16="http://schemas.microsoft.com/office/drawing/2014/main" id="{F2FECFF5-63E8-2DD0-24A8-5957D24CA279}"/>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061239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3D2BE-F063-85D9-B180-1DC95B91DE52}"/>
              </a:ext>
            </a:extLst>
          </p:cNvPr>
          <p:cNvSpPr>
            <a:spLocks noGrp="1"/>
          </p:cNvSpPr>
          <p:nvPr>
            <p:ph type="title"/>
          </p:nvPr>
        </p:nvSpPr>
        <p:spPr/>
        <p:txBody>
          <a:bodyPr/>
          <a:lstStyle/>
          <a:p>
            <a:r>
              <a:rPr lang="en-US"/>
              <a:t>YÊU CẦU HỌC PHẦN</a:t>
            </a:r>
          </a:p>
        </p:txBody>
      </p:sp>
      <p:sp>
        <p:nvSpPr>
          <p:cNvPr id="3" name="Content Placeholder 2">
            <a:extLst>
              <a:ext uri="{FF2B5EF4-FFF2-40B4-BE49-F238E27FC236}">
                <a16:creationId xmlns:a16="http://schemas.microsoft.com/office/drawing/2014/main" id="{48FAD720-E3B4-FA64-B333-0174243479EE}"/>
              </a:ext>
            </a:extLst>
          </p:cNvPr>
          <p:cNvSpPr>
            <a:spLocks noGrp="1"/>
          </p:cNvSpPr>
          <p:nvPr>
            <p:ph idx="1"/>
          </p:nvPr>
        </p:nvSpPr>
        <p:spPr/>
        <p:txBody>
          <a:bodyPr/>
          <a:lstStyle/>
          <a:p>
            <a:r>
              <a:rPr lang="vi-VN"/>
              <a:t>Người học phải dự học đầy đủ các buổi lên lớp và làm bài tập đầy đủ ở nhà.</a:t>
            </a:r>
            <a:endParaRPr lang="en-US"/>
          </a:p>
        </p:txBody>
      </p:sp>
      <p:sp>
        <p:nvSpPr>
          <p:cNvPr id="4" name="Footer Placeholder 3">
            <a:extLst>
              <a:ext uri="{FF2B5EF4-FFF2-40B4-BE49-F238E27FC236}">
                <a16:creationId xmlns:a16="http://schemas.microsoft.com/office/drawing/2014/main" id="{B15168F4-7319-560A-04D2-93FDDCC50261}"/>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141162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6AFD0-A50B-002E-CFC5-D027D5A29BB3}"/>
              </a:ext>
            </a:extLst>
          </p:cNvPr>
          <p:cNvSpPr>
            <a:spLocks noGrp="1"/>
          </p:cNvSpPr>
          <p:nvPr>
            <p:ph type="title"/>
          </p:nvPr>
        </p:nvSpPr>
        <p:spPr/>
        <p:txBody>
          <a:bodyPr>
            <a:normAutofit/>
          </a:bodyPr>
          <a:lstStyle/>
          <a:p>
            <a:r>
              <a:rPr lang="en-US" sz="3200"/>
              <a:t>CÁCH TIẾP NHẬN NỘI DUNG HỌC PHẦN</a:t>
            </a:r>
          </a:p>
        </p:txBody>
      </p:sp>
      <p:sp>
        <p:nvSpPr>
          <p:cNvPr id="3" name="Content Placeholder 2">
            <a:extLst>
              <a:ext uri="{FF2B5EF4-FFF2-40B4-BE49-F238E27FC236}">
                <a16:creationId xmlns:a16="http://schemas.microsoft.com/office/drawing/2014/main" id="{ACE46037-36A1-09A7-697D-84BB0F653877}"/>
              </a:ext>
            </a:extLst>
          </p:cNvPr>
          <p:cNvSpPr>
            <a:spLocks noGrp="1"/>
          </p:cNvSpPr>
          <p:nvPr>
            <p:ph idx="1"/>
          </p:nvPr>
        </p:nvSpPr>
        <p:spPr/>
        <p:txBody>
          <a:bodyPr/>
          <a:lstStyle/>
          <a:p>
            <a:pPr algn="just"/>
            <a:r>
              <a:rPr lang="vi-VN"/>
              <a:t>Để học tốt học phần này, người học cần tập trung tiếp thu bài giảng tại lớp, làm tất cả các ví dụ và bài tập; giờ thực hành cần nắm và cài đặt được các phần mềm cần thiết, làm các bài tập thực hành.</a:t>
            </a:r>
            <a:endParaRPr lang="en-US"/>
          </a:p>
        </p:txBody>
      </p:sp>
      <p:sp>
        <p:nvSpPr>
          <p:cNvPr id="4" name="Footer Placeholder 3">
            <a:extLst>
              <a:ext uri="{FF2B5EF4-FFF2-40B4-BE49-F238E27FC236}">
                <a16:creationId xmlns:a16="http://schemas.microsoft.com/office/drawing/2014/main" id="{1F442ACD-C515-2E36-6064-0C0C1707215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377079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C60A5-4CD2-C594-3A6D-40D5A6AC2F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5603D-0969-483F-E534-931A86D9309B}"/>
              </a:ext>
            </a:extLst>
          </p:cNvPr>
          <p:cNvSpPr>
            <a:spLocks noGrp="1"/>
          </p:cNvSpPr>
          <p:nvPr>
            <p:ph type="title"/>
          </p:nvPr>
        </p:nvSpPr>
        <p:spPr/>
        <p:txBody>
          <a:bodyPr>
            <a:normAutofit/>
          </a:bodyPr>
          <a:lstStyle/>
          <a:p>
            <a:r>
              <a:rPr lang="vi-VN" sz="3200"/>
              <a:t>PHƯƠNG PHÁP ĐÁNH GIÁ HỌC PHẦN</a:t>
            </a:r>
            <a:endParaRPr lang="en-US" sz="3200"/>
          </a:p>
        </p:txBody>
      </p:sp>
      <p:sp>
        <p:nvSpPr>
          <p:cNvPr id="3" name="Content Placeholder 2">
            <a:extLst>
              <a:ext uri="{FF2B5EF4-FFF2-40B4-BE49-F238E27FC236}">
                <a16:creationId xmlns:a16="http://schemas.microsoft.com/office/drawing/2014/main" id="{409F5F89-CA50-AE23-BF5E-5A0EF61E865C}"/>
              </a:ext>
            </a:extLst>
          </p:cNvPr>
          <p:cNvSpPr>
            <a:spLocks noGrp="1"/>
          </p:cNvSpPr>
          <p:nvPr>
            <p:ph idx="1"/>
          </p:nvPr>
        </p:nvSpPr>
        <p:spPr/>
        <p:txBody>
          <a:bodyPr>
            <a:normAutofit/>
          </a:bodyPr>
          <a:lstStyle/>
          <a:p>
            <a:pPr algn="just"/>
            <a:r>
              <a:rPr lang="vi-VN"/>
              <a:t>Điểm quá trình: 50%</a:t>
            </a:r>
            <a:endParaRPr lang="en-US"/>
          </a:p>
          <a:p>
            <a:pPr lvl="1" algn="just"/>
            <a:r>
              <a:rPr lang="en-US"/>
              <a:t>Chuyên cần: 30%</a:t>
            </a:r>
          </a:p>
          <a:p>
            <a:pPr lvl="1" algn="just"/>
            <a:r>
              <a:rPr lang="en-US"/>
              <a:t>Kiểm tra 1: 20%</a:t>
            </a:r>
          </a:p>
          <a:p>
            <a:pPr lvl="1" algn="just"/>
            <a:r>
              <a:rPr lang="en-US"/>
              <a:t>Kiểm tra 2: 20%</a:t>
            </a:r>
          </a:p>
          <a:p>
            <a:pPr lvl="1" algn="just"/>
            <a:r>
              <a:rPr lang="en-US"/>
              <a:t>Báo cáo: 30%</a:t>
            </a:r>
          </a:p>
          <a:p>
            <a:pPr algn="just"/>
            <a:r>
              <a:rPr lang="vi-VN"/>
              <a:t>Điểm thi cuối kỳ: </a:t>
            </a:r>
            <a:endParaRPr lang="en-US"/>
          </a:p>
          <a:p>
            <a:pPr lvl="1" algn="just"/>
            <a:r>
              <a:rPr lang="en-US"/>
              <a:t>H</a:t>
            </a:r>
            <a:r>
              <a:rPr lang="vi-VN"/>
              <a:t>ình thức làm đồ án học phần và chấm thi vấn đáp dựa trên nội dung đồ án học phần kết hợp với lý thuyết trong các bài học.</a:t>
            </a:r>
            <a:r>
              <a:rPr lang="en-US"/>
              <a:t> </a:t>
            </a:r>
          </a:p>
          <a:p>
            <a:pPr lvl="1" algn="just"/>
            <a:r>
              <a:rPr lang="en-US"/>
              <a:t>Mỗi nhóm tối đa 3 sinh viên.</a:t>
            </a:r>
          </a:p>
          <a:p>
            <a:pPr lvl="1" algn="just"/>
            <a:r>
              <a:rPr lang="en-US"/>
              <a:t>Báo cáo theo lịch của Nhà Trường.</a:t>
            </a:r>
          </a:p>
        </p:txBody>
      </p:sp>
      <p:sp>
        <p:nvSpPr>
          <p:cNvPr id="4" name="Footer Placeholder 3">
            <a:extLst>
              <a:ext uri="{FF2B5EF4-FFF2-40B4-BE49-F238E27FC236}">
                <a16:creationId xmlns:a16="http://schemas.microsoft.com/office/drawing/2014/main" id="{305C6B08-626C-3EC6-3100-410FD4D27CFA}"/>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389059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5AF3B-BF08-3C9F-A56A-9529FFBAD012}"/>
              </a:ext>
            </a:extLst>
          </p:cNvPr>
          <p:cNvSpPr>
            <a:spLocks noGrp="1"/>
          </p:cNvSpPr>
          <p:nvPr>
            <p:ph type="title"/>
          </p:nvPr>
        </p:nvSpPr>
        <p:spPr/>
        <p:txBody>
          <a:bodyPr/>
          <a:lstStyle/>
          <a:p>
            <a:r>
              <a:rPr lang="en-US"/>
              <a:t>Thông tin liên hệ</a:t>
            </a:r>
          </a:p>
        </p:txBody>
      </p:sp>
      <p:sp>
        <p:nvSpPr>
          <p:cNvPr id="3" name="Content Placeholder 2">
            <a:extLst>
              <a:ext uri="{FF2B5EF4-FFF2-40B4-BE49-F238E27FC236}">
                <a16:creationId xmlns:a16="http://schemas.microsoft.com/office/drawing/2014/main" id="{00B8253E-4CA0-011B-540D-4AC9D2F1EC3F}"/>
              </a:ext>
            </a:extLst>
          </p:cNvPr>
          <p:cNvSpPr>
            <a:spLocks noGrp="1"/>
          </p:cNvSpPr>
          <p:nvPr>
            <p:ph idx="1"/>
          </p:nvPr>
        </p:nvSpPr>
        <p:spPr/>
        <p:txBody>
          <a:bodyPr>
            <a:normAutofit/>
          </a:bodyPr>
          <a:lstStyle/>
          <a:p>
            <a:r>
              <a:rPr lang="en-US"/>
              <a:t>ThS. Lê Nhật Tùng</a:t>
            </a:r>
          </a:p>
          <a:p>
            <a:r>
              <a:rPr lang="en-US"/>
              <a:t>Email: </a:t>
            </a:r>
            <a:r>
              <a:rPr lang="en-US">
                <a:hlinkClick r:id="rId2"/>
              </a:rPr>
              <a:t>lenhattung@gmail.com</a:t>
            </a:r>
            <a:endParaRPr lang="en-US"/>
          </a:p>
          <a:p>
            <a:r>
              <a:rPr lang="en-US"/>
              <a:t>Youtube: </a:t>
            </a:r>
            <a:r>
              <a:rPr lang="en-US">
                <a:hlinkClick r:id="rId3"/>
              </a:rPr>
              <a:t>https://www.youtube.com/@TITVvn/</a:t>
            </a:r>
            <a:endParaRPr lang="en-US"/>
          </a:p>
          <a:p>
            <a:r>
              <a:rPr lang="en-US"/>
              <a:t>Mẫu email liên hệ:</a:t>
            </a:r>
          </a:p>
          <a:p>
            <a:pPr lvl="1">
              <a:buFontTx/>
              <a:buChar char="-"/>
            </a:pPr>
            <a:r>
              <a:rPr lang="en-US"/>
              <a:t>Tiêu đề</a:t>
            </a:r>
          </a:p>
          <a:p>
            <a:pPr lvl="1">
              <a:buFontTx/>
              <a:buChar char="-"/>
            </a:pPr>
            <a:r>
              <a:rPr lang="en-US"/>
              <a:t>Chào mở đẩu</a:t>
            </a:r>
          </a:p>
          <a:p>
            <a:pPr lvl="1">
              <a:buFontTx/>
              <a:buChar char="-"/>
            </a:pPr>
            <a:r>
              <a:rPr lang="en-US"/>
              <a:t>Giới thiệu họ tên, lớp học, buổi học, ngày học, thuộc trường</a:t>
            </a:r>
          </a:p>
          <a:p>
            <a:pPr lvl="1">
              <a:buFontTx/>
              <a:buChar char="-"/>
            </a:pPr>
            <a:r>
              <a:rPr lang="en-US"/>
              <a:t>Nội dung cần trao đổi</a:t>
            </a:r>
          </a:p>
          <a:p>
            <a:pPr lvl="1">
              <a:buFontTx/>
              <a:buChar char="-"/>
            </a:pPr>
            <a:r>
              <a:rPr lang="en-US"/>
              <a:t>File đính kèm</a:t>
            </a:r>
          </a:p>
          <a:p>
            <a:pPr lvl="1">
              <a:buFontTx/>
              <a:buChar char="-"/>
            </a:pPr>
            <a:r>
              <a:rPr lang="en-US"/>
              <a:t>Chào kết</a:t>
            </a:r>
          </a:p>
        </p:txBody>
      </p:sp>
      <p:sp>
        <p:nvSpPr>
          <p:cNvPr id="4" name="Footer Placeholder 3">
            <a:extLst>
              <a:ext uri="{FF2B5EF4-FFF2-40B4-BE49-F238E27FC236}">
                <a16:creationId xmlns:a16="http://schemas.microsoft.com/office/drawing/2014/main" id="{DC2BB5FD-80A9-4CA7-44B6-313DBA94BA6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70390385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268</TotalTime>
  <Words>800</Words>
  <Application>Microsoft Office PowerPoint</Application>
  <PresentationFormat>On-screen Show (4:3)</PresentationFormat>
  <Paragraphs>63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Calibri</vt:lpstr>
      <vt:lpstr>Calibri Light</vt:lpstr>
      <vt:lpstr>Retrospect</vt:lpstr>
      <vt:lpstr>HỌC SÂU</vt:lpstr>
      <vt:lpstr>MÔ TẢ HỌC PHẦN</vt:lpstr>
      <vt:lpstr>NỘI DUNG HỌC PHẦN</vt:lpstr>
      <vt:lpstr>NỘI DUNG HỌC PHẦN</vt:lpstr>
      <vt:lpstr>NỘI DUNG HỌC PHẦN</vt:lpstr>
      <vt:lpstr>NỘI DUNG HỌC PHẦN</vt:lpstr>
      <vt:lpstr>NỘI DUNG HỌC PHẦN</vt:lpstr>
      <vt:lpstr>KIẾN THỨC TIỀN ĐỀ</vt:lpstr>
      <vt:lpstr>YÊU CẦU HỌC PHẦN</vt:lpstr>
      <vt:lpstr>CÁCH TIẾP NHẬN NỘI DUNG HỌC PHẦN</vt:lpstr>
      <vt:lpstr>PHƯƠNG PHÁP ĐÁNH GIÁ HỌC PHẦN</vt:lpstr>
      <vt:lpstr>Thông tin liên hệ</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Nhat Tung</dc:creator>
  <cp:lastModifiedBy>Le Nhat Tung</cp:lastModifiedBy>
  <cp:revision>12</cp:revision>
  <dcterms:created xsi:type="dcterms:W3CDTF">2025-02-15T00:36:04Z</dcterms:created>
  <dcterms:modified xsi:type="dcterms:W3CDTF">2025-02-15T08:22:36Z</dcterms:modified>
</cp:coreProperties>
</file>